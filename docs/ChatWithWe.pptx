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60" r:id="rId4"/>
    <p:sldId id="261" r:id="rId5"/>
    <p:sldId id="262" r:id="rId6"/>
    <p:sldId id="272" r:id="rId7"/>
    <p:sldId id="264" r:id="rId8"/>
    <p:sldId id="269" r:id="rId9"/>
    <p:sldId id="265" r:id="rId10"/>
    <p:sldId id="268" r:id="rId11"/>
    <p:sldId id="274" r:id="rId12"/>
    <p:sldId id="271" r:id="rId13"/>
    <p:sldId id="267" r:id="rId14"/>
    <p:sldId id="276" r:id="rId15"/>
    <p:sldId id="27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1.png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image" Target="../media/image4.png"/><Relationship Id="rId1" Type="http://schemas.openxmlformats.org/officeDocument/2006/relationships/tags" Target="../tags/tag7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image" Target="../media/image1.png"/><Relationship Id="rId1" Type="http://schemas.openxmlformats.org/officeDocument/2006/relationships/tags" Target="../tags/tag8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image" Target="../media/image5.png"/><Relationship Id="rId1" Type="http://schemas.openxmlformats.org/officeDocument/2006/relationships/tags" Target="../tags/tag8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5.xml"/><Relationship Id="rId2" Type="http://schemas.openxmlformats.org/officeDocument/2006/relationships/image" Target="../media/image5.png"/><Relationship Id="rId1" Type="http://schemas.openxmlformats.org/officeDocument/2006/relationships/tags" Target="../tags/tag84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8.xml"/><Relationship Id="rId4" Type="http://schemas.openxmlformats.org/officeDocument/2006/relationships/image" Target="../media/image7.png"/><Relationship Id="rId3" Type="http://schemas.openxmlformats.org/officeDocument/2006/relationships/tags" Target="../tags/tag87.xml"/><Relationship Id="rId2" Type="http://schemas.openxmlformats.org/officeDocument/2006/relationships/image" Target="../media/image6.png"/><Relationship Id="rId1" Type="http://schemas.openxmlformats.org/officeDocument/2006/relationships/tags" Target="../tags/tag86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9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96635" y="639445"/>
            <a:ext cx="5480685" cy="5982335"/>
          </a:xfrm>
        </p:spPr>
        <p:txBody>
          <a:bodyPr>
            <a:normAutofit fontScale="60000"/>
          </a:bodyPr>
          <a:p>
            <a:pPr marL="0" indent="0" algn="ctr">
              <a:buNone/>
            </a:pPr>
            <a:r>
              <a:rPr lang="en-US" altLang="zh-CN" sz="4400">
                <a:solidFill>
                  <a:schemeClr val="bg1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Welcome to a new world</a:t>
            </a:r>
            <a:endParaRPr lang="en-US" altLang="zh-CN" sz="4400">
              <a:solidFill>
                <a:schemeClr val="bg1"/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marL="0" indent="0" algn="ctr">
              <a:buNone/>
            </a:pPr>
            <a:endParaRPr lang="en-US" altLang="zh-CN" sz="4400">
              <a:solidFill>
                <a:schemeClr val="bg1"/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marL="0" indent="0" algn="ctr">
              <a:buNone/>
            </a:pPr>
            <a:r>
              <a:rPr lang="en-US" altLang="zh-CN" sz="8570">
                <a:solidFill>
                  <a:schemeClr val="bg1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ChatWithMe</a:t>
            </a:r>
            <a:r>
              <a:rPr lang="en-US" altLang="zh-CN" sz="4400">
                <a:solidFill>
                  <a:schemeClr val="bg1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 </a:t>
            </a:r>
            <a:endParaRPr lang="en-US" altLang="zh-CN" sz="4400">
              <a:solidFill>
                <a:schemeClr val="bg1"/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marL="0" indent="0" algn="ctr">
              <a:buNone/>
            </a:pPr>
            <a:r>
              <a:rPr lang="en-US" altLang="zh-CN" sz="2500">
                <a:solidFill>
                  <a:schemeClr val="bg1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Interactive Guide Assistant</a:t>
            </a:r>
            <a:endParaRPr lang="en-US" altLang="zh-CN" sz="2500">
              <a:solidFill>
                <a:schemeClr val="bg1"/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marL="0" indent="0" algn="ctr">
              <a:buNone/>
            </a:pPr>
            <a:endParaRPr lang="en-US" altLang="zh-CN" sz="4400">
              <a:solidFill>
                <a:schemeClr val="bg1"/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marL="0" indent="0" algn="ctr">
              <a:buNone/>
            </a:pPr>
            <a:r>
              <a:rPr lang="en-US" altLang="zh-CN" sz="3335">
                <a:solidFill>
                  <a:schemeClr val="bg1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Engineer:Min &amp; Ming</a:t>
            </a:r>
            <a:endParaRPr lang="en-US" altLang="zh-CN" sz="3335">
              <a:solidFill>
                <a:schemeClr val="bg1"/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marL="0" indent="0" algn="ctr">
              <a:buNone/>
            </a:pPr>
            <a:r>
              <a:rPr lang="en-US" altLang="zh-CN" sz="3335">
                <a:solidFill>
                  <a:schemeClr val="bg1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UI/UX:Yiyin</a:t>
            </a:r>
            <a:endParaRPr lang="en-US" altLang="zh-CN" sz="3335">
              <a:solidFill>
                <a:schemeClr val="bg1"/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marL="0" indent="0" algn="ctr">
              <a:buNone/>
            </a:pPr>
            <a:r>
              <a:rPr lang="en-US" altLang="zh-CN" sz="3335">
                <a:solidFill>
                  <a:schemeClr val="bg1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PM:Anqi(Andrew)</a:t>
            </a:r>
            <a:endParaRPr lang="en-US" altLang="zh-CN" sz="4400">
              <a:solidFill>
                <a:schemeClr val="bg1"/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endParaRPr lang="en-US" altLang="zh-CN">
              <a:latin typeface="Cascadia Code SemiBold" panose="020B0609020000020004" charset="0"/>
              <a:cs typeface="Cascadia Code SemiBold" panose="020B0609020000020004" charset="0"/>
            </a:endParaRPr>
          </a:p>
          <a:p>
            <a:endParaRPr lang="en-US" altLang="zh-CN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5" name="图片 4" descr="Chat WithMe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920750"/>
            <a:ext cx="5384165" cy="53841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82625"/>
            <a:ext cx="10968990" cy="5624195"/>
          </a:xfrm>
        </p:spPr>
        <p:txBody>
          <a:bodyPr>
            <a:noAutofit/>
          </a:bodyPr>
          <a:p>
            <a:r>
              <a:rPr lang="en-US" altLang="zh-CN" sz="4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Now everyone wants to program with AI</a:t>
            </a:r>
            <a:br>
              <a:rPr lang="en-US" altLang="zh-CN" sz="4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lang="en-US" altLang="zh-CN" sz="4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br>
              <a:rPr lang="en-US" altLang="zh-CN" sz="4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lang="en-US" altLang="zh-CN" sz="40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But</a:t>
            </a:r>
            <a:r>
              <a:rPr lang="en-US" altLang="zh-CN" sz="4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80% of people give up in the first minute when they see platforms like Codex full of</a:t>
            </a:r>
            <a:r>
              <a:rPr lang="en-US" altLang="zh-CN" sz="40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English, API interfaces, and strange parameters</a:t>
            </a:r>
            <a:r>
              <a:rPr lang="en-US" altLang="zh-CN" sz="4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endParaRPr lang="en-US" altLang="zh-CN" sz="40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303010" y="2044700"/>
            <a:ext cx="5567680" cy="433197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91515" y="1356995"/>
            <a:ext cx="8761095" cy="47593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45185" y="25146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>
                <a:solidFill>
                  <a:schemeClr val="bg1"/>
                </a:solidFill>
              </a:rPr>
              <a:t>LIKE:</a:t>
            </a:r>
            <a:endParaRPr lang="en-US" altLang="zh-CN" sz="540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970" y="1173480"/>
            <a:ext cx="9508490" cy="51015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433070"/>
            <a:ext cx="10968990" cy="5816600"/>
          </a:xfrm>
        </p:spPr>
        <p:txBody>
          <a:bodyPr>
            <a:noAutofit/>
          </a:bodyPr>
          <a:p>
            <a:pPr marL="0" indent="0" algn="ctr">
              <a:buNone/>
            </a:pPr>
            <a:r>
              <a:rPr lang="en-US" altLang="zh-CN" sz="3200">
                <a:solidFill>
                  <a:schemeClr val="bg1"/>
                </a:solidFill>
              </a:rPr>
              <a:t>Every member of our team hopes that in the AI era, everyone can keep up with the pace of the times.</a:t>
            </a:r>
            <a:endParaRPr lang="en-US" altLang="zh-CN" sz="320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altLang="zh-CN" sz="32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altLang="zh-CN" sz="3200">
                <a:solidFill>
                  <a:schemeClr val="bg1"/>
                </a:solidFill>
              </a:rPr>
              <a:t>So we created this simple, easy-to-use instructional AI plugin.</a:t>
            </a:r>
            <a:endParaRPr lang="en-US" altLang="zh-CN" sz="32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altLang="zh-CN" sz="8000">
                <a:solidFill>
                  <a:schemeClr val="bg1"/>
                </a:solidFill>
              </a:rPr>
              <a:t>ChatWithMe</a:t>
            </a:r>
            <a:endParaRPr lang="en-US" altLang="zh-CN" sz="8000">
              <a:solidFill>
                <a:schemeClr val="bg1"/>
              </a:solidFill>
            </a:endParaRPr>
          </a:p>
        </p:txBody>
      </p:sp>
      <p:pic>
        <p:nvPicPr>
          <p:cNvPr id="5" name="图片 4" descr="Chat WithMe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945" y="4058285"/>
            <a:ext cx="1621155" cy="16211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334080"/>
            <a:ext cx="10969200" cy="705600"/>
          </a:xfrm>
        </p:spPr>
        <p:txBody>
          <a:bodyPr/>
          <a:p>
            <a:r>
              <a:rPr lang="en-US" altLang="zh-CN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Values of ‘ChatWithMe’</a:t>
            </a: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040130"/>
            <a:ext cx="10968990" cy="602234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 sz="1780">
                <a:solidFill>
                  <a:schemeClr val="bg1"/>
                </a:solidFill>
              </a:rPr>
              <a:t>Among annual subscribers of AI applications, </a:t>
            </a:r>
            <a:r>
              <a:rPr lang="en-US" altLang="zh-CN" sz="1780" b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charset="0"/>
                <a:cs typeface="Cascadia Code" panose="020B0609020000020004" charset="0"/>
              </a:rPr>
              <a:t>up to 79% churn within a year</a:t>
            </a:r>
            <a:r>
              <a:rPr lang="en-US" altLang="zh-CN" sz="1780">
                <a:solidFill>
                  <a:schemeClr val="bg1"/>
                </a:solidFill>
              </a:rPr>
              <a:t>. Comparative contrast: the annual retention rate of AI applications is only 21.1%, while traditional non-AI applications are 30.7%. The gap is even worse in monthly retention, with AI applications at only 6.1%, compared to 9.5% for traditional non-AI applications.</a:t>
            </a:r>
            <a:endParaRPr lang="en-US" altLang="zh-CN" sz="178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zh-CN" sz="178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zh-CN" sz="2000" b="1">
                <a:solidFill>
                  <a:schemeClr val="bg1"/>
                </a:solidFill>
              </a:rPr>
              <a:t>The Onboarding Cliff</a:t>
            </a:r>
            <a:endParaRPr lang="en-US" altLang="zh-CN" sz="2000" b="1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zh-CN" sz="1780">
                <a:solidFill>
                  <a:schemeClr val="bg1"/>
                </a:solidFill>
              </a:rPr>
              <a:t>Core hit: Efficiency apps have a </a:t>
            </a:r>
            <a:r>
              <a:rPr lang="en-US" altLang="zh-CN" sz="1780" b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charset="0"/>
                <a:cs typeface="Cascadia Code" panose="020B0609020000020004" charset="0"/>
              </a:rPr>
              <a:t>32.86% retention rate on day </a:t>
            </a:r>
            <a:r>
              <a:rPr lang="en-US" altLang="zh-CN" sz="178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charset="0"/>
                <a:cs typeface="Cascadia Code" panose="020B0609020000020004" charset="0"/>
              </a:rPr>
              <a:t>1</a:t>
            </a:r>
            <a:r>
              <a:rPr lang="en-US" altLang="zh-CN" sz="1780">
                <a:solidFill>
                  <a:schemeClr val="bg1"/>
                </a:solidFill>
              </a:rPr>
              <a:t>, but it plummets to 9.63% by day 30. This means that within the first month, retention drops by 71% --- Data come from ‘Reddit’</a:t>
            </a:r>
            <a:endParaRPr lang="en-US" altLang="zh-CN" sz="178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zh-CN" sz="2000" b="1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zh-CN" sz="2000" b="1">
                <a:solidFill>
                  <a:schemeClr val="bg1"/>
                </a:solidFill>
              </a:rPr>
              <a:t>The Cost of Confusion</a:t>
            </a:r>
            <a:endParaRPr lang="en-US" altLang="zh-CN" sz="2000" b="1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zh-CN" sz="1780">
                <a:solidFill>
                  <a:schemeClr val="bg1"/>
                </a:solidFill>
              </a:rPr>
              <a:t>Core hit: </a:t>
            </a:r>
            <a:r>
              <a:rPr lang="en-US" altLang="zh-CN" sz="178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charset="0"/>
                <a:cs typeface="Cascadia Code" panose="020B0609020000020004" charset="0"/>
              </a:rPr>
              <a:t>Up to</a:t>
            </a:r>
            <a:r>
              <a:rPr lang="en-US" altLang="zh-CN" sz="1780" b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charset="0"/>
                <a:cs typeface="Cascadia Code" panose="020B0609020000020004" charset="0"/>
              </a:rPr>
              <a:t> 72% of users</a:t>
            </a:r>
            <a:r>
              <a:rPr lang="en-US" altLang="zh-CN" sz="178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charset="0"/>
                <a:cs typeface="Cascadia Code" panose="020B0609020000020004" charset="0"/>
              </a:rPr>
              <a:t> turn to competitors after experiencing only one negative interaction. When users find the operation process confusing or frustrating, they are very likely to give up immediately. --- Data come from ‘Qualtrics’</a:t>
            </a:r>
            <a:endParaRPr lang="en-US" altLang="zh-CN" sz="178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内容占位符 7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21005" y="2323465"/>
            <a:ext cx="10310495" cy="33997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21005" y="200660"/>
            <a:ext cx="852678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Cliff-like drop during the newbie phase - 71% attrition rate</a:t>
            </a:r>
            <a:r>
              <a:rPr lang="en-US" altLang="zh-CN" sz="2000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-from Deepseek</a:t>
            </a:r>
            <a:endParaRPr lang="en-US" altLang="zh-CN" sz="2000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1005" y="5960110"/>
            <a:ext cx="116662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Over 70% of users choose to give up in the first minute when faced with a complex interface. This is a </a:t>
            </a:r>
            <a:r>
              <a:rPr lang="en-US" altLang="zh-CN" sz="1200" u="sng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huge loss</a:t>
            </a:r>
            <a:r>
              <a:rPr lang="en-US" altLang="zh-CN" sz="1200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 for SaoS Company.</a:t>
            </a:r>
            <a:endParaRPr lang="en-US" altLang="zh-CN" sz="1200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  <a:sym typeface="+mn-ea"/>
              </a:rPr>
              <a:t>Why do they leave? Complexity kills curiosity</a:t>
            </a: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5172710"/>
          </a:xfrm>
        </p:spPr>
        <p:txBody>
          <a:bodyPr/>
          <a:p>
            <a:pPr marL="0" indent="0">
              <a:buNone/>
            </a:pP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"Don't make me think"</a:t>
            </a: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For complete AI novices with no technical background, the following elements are 'deterrents':</a:t>
            </a: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r>
              <a:rPr lang="en-US" altLang="zh-CN" u="sng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• Screens full of English terms and parameters</a:t>
            </a:r>
            <a:endParaRPr lang="en-US" altLang="zh-CN" u="sng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r>
              <a:rPr lang="en-US" altLang="zh-CN" u="sng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• Missing locations to fill in API interfaces</a:t>
            </a:r>
            <a:endParaRPr lang="en-US" altLang="zh-CN" u="sng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r>
              <a:rPr lang="en-US" altLang="zh-CN" u="sng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• Complex URL configurations and environment variables</a:t>
            </a:r>
            <a:endParaRPr lang="en-US" altLang="zh-CN" u="sng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When the cognitive load exceeds the critical threshold, users will not hesitate to close the webpage.</a:t>
            </a: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-635" y="635"/>
            <a:ext cx="12186920" cy="6858000"/>
          </a:xfrm>
        </p:spPr>
        <p:txBody>
          <a:bodyPr>
            <a:normAutofit/>
          </a:bodyPr>
          <a:p>
            <a:pPr marL="0" indent="0" algn="ctr">
              <a:lnSpc>
                <a:spcPct val="180000"/>
              </a:lnSpc>
              <a:buNone/>
            </a:pPr>
            <a:r>
              <a:rPr lang="en-US" altLang="zh-CN" sz="20000">
                <a:solidFill>
                  <a:schemeClr val="bg1"/>
                </a:solidFill>
              </a:rPr>
              <a:t>SO</a:t>
            </a:r>
            <a:r>
              <a:rPr lang="zh-CN" altLang="en-US" sz="20000">
                <a:solidFill>
                  <a:schemeClr val="bg1"/>
                </a:solidFill>
              </a:rPr>
              <a:t>！</a:t>
            </a:r>
            <a:endParaRPr lang="zh-CN" altLang="en-US" sz="20000">
              <a:solidFill>
                <a:schemeClr val="bg1"/>
              </a:solidFill>
            </a:endParaRPr>
          </a:p>
        </p:txBody>
      </p:sp>
      <p:pic>
        <p:nvPicPr>
          <p:cNvPr id="4" name="图片 3" descr="Chat WithMe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040" y="315595"/>
            <a:ext cx="1621155" cy="16211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 flipH="1">
            <a:off x="5834380" y="459740"/>
            <a:ext cx="5953760" cy="602932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zh-CN" sz="5400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Minimalist </a:t>
            </a:r>
            <a:endParaRPr lang="en-US" altLang="zh-CN" sz="5400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r>
              <a:rPr lang="en-US" altLang="zh-CN" sz="5400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sidebar UI</a:t>
            </a:r>
            <a:endParaRPr lang="en-US" altLang="zh-CN" sz="5400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Refuse long lectures</a:t>
            </a: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Keep only one dialog in the sidebar, support plain everyday language "input";</a:t>
            </a: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Where should I click to start?</a:t>
            </a: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Where do I put the API Key?</a:t>
            </a: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I want to test it, but I can't understand these</a:t>
            </a: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pic>
        <p:nvPicPr>
          <p:cNvPr id="5" name="图片 4" descr="Screen_Shot_2026-05-31_at_2.39.35_PM"/>
          <p:cNvPicPr>
            <a:picLocks noChangeAspect="1"/>
          </p:cNvPicPr>
          <p:nvPr/>
        </p:nvPicPr>
        <p:blipFill>
          <a:blip r:embed="rId2"/>
          <a:srcRect l="51198" t="-5300" r="156" b="-1298"/>
          <a:stretch>
            <a:fillRect/>
          </a:stretch>
        </p:blipFill>
        <p:spPr>
          <a:xfrm>
            <a:off x="240665" y="130175"/>
            <a:ext cx="5447665" cy="63588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 flipH="1">
            <a:off x="5834380" y="459740"/>
            <a:ext cx="5953760" cy="602932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zh-CN" sz="5400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Minimalist </a:t>
            </a:r>
            <a:endParaRPr lang="en-US" altLang="zh-CN" sz="5400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r>
              <a:rPr lang="en-US" altLang="zh-CN" sz="5400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sidebar UI</a:t>
            </a:r>
            <a:endParaRPr lang="en-US" altLang="zh-CN" sz="5400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Refuse long lectures</a:t>
            </a: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Keep only one dialog in the sidebar, support plain everyday language "input";</a:t>
            </a: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Where should I click to start?</a:t>
            </a: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Where do I put the API Key?</a:t>
            </a: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I want to test it, but I can't understand these</a:t>
            </a: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pic>
        <p:nvPicPr>
          <p:cNvPr id="5" name="图片 4" descr="Screen_Shot_2026-05-31_at_2.39.35_PM"/>
          <p:cNvPicPr>
            <a:picLocks noChangeAspect="1"/>
          </p:cNvPicPr>
          <p:nvPr/>
        </p:nvPicPr>
        <p:blipFill>
          <a:blip r:embed="rId2"/>
          <a:srcRect l="51198" t="-5300" r="156" b="-1298"/>
          <a:stretch>
            <a:fillRect/>
          </a:stretch>
        </p:blipFill>
        <p:spPr>
          <a:xfrm>
            <a:off x="240665" y="130175"/>
            <a:ext cx="5447665" cy="63588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664210"/>
            <a:ext cx="5487670" cy="5585460"/>
          </a:xfrm>
        </p:spPr>
        <p:txBody>
          <a:bodyPr/>
          <a:p>
            <a:pPr marL="0" indent="0">
              <a:buNone/>
            </a:pPr>
            <a:r>
              <a:rPr lang="en-US" altLang="zh-CN" b="1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When the user issues a command, the webpage instantly darkens and a semi-transparent overlay is applied. The system behaves like a spotlight:</a:t>
            </a:r>
            <a:endParaRPr lang="en-US" altLang="zh-CN" b="1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endParaRPr lang="en-US" altLang="zh-CN" b="1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r>
              <a:rPr lang="en-US" altLang="zh-CN" b="1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• Instant Focus: The spotlight shines on the target button.</a:t>
            </a:r>
            <a:endParaRPr lang="en-US" altLang="zh-CN" b="1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r>
              <a:rPr lang="en-US" altLang="zh-CN" b="1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• Dynamic Prompt: A bouncing arrow guides the click.</a:t>
            </a:r>
            <a:endParaRPr lang="en-US" altLang="zh-CN" b="1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r>
              <a:rPr lang="en-US" altLang="zh-CN" b="1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• Zero Mental Burden: The user only needs to follow the light.</a:t>
            </a:r>
            <a:endParaRPr lang="en-US" altLang="zh-CN" b="1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760" y="0"/>
            <a:ext cx="6237605" cy="6858000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0" y="-953135"/>
            <a:ext cx="5487670" cy="405003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800" b="1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  <a:sym typeface="+mn-ea"/>
            </a:endParaRPr>
          </a:p>
          <a:p>
            <a:r>
              <a:rPr lang="en-US" altLang="zh-CN" sz="2800" b="1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  <a:sym typeface="+mn-ea"/>
              </a:rPr>
              <a:t>Soul Function:</a:t>
            </a:r>
            <a:endParaRPr lang="en-US" altLang="zh-CN" sz="2800" b="1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  <a:sym typeface="+mn-ea"/>
            </a:endParaRPr>
          </a:p>
          <a:p>
            <a:r>
              <a:rPr lang="en-US" altLang="zh-CN" sz="2800" b="1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  <a:sym typeface="+mn-ea"/>
              </a:rPr>
              <a:t> </a:t>
            </a:r>
            <a:endParaRPr lang="en-US" altLang="zh-CN" sz="2800" b="1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  <a:sym typeface="+mn-ea"/>
            </a:endParaRPr>
          </a:p>
          <a:p>
            <a:r>
              <a:rPr lang="en-US" altLang="zh-CN" sz="2800" b="1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  <a:sym typeface="+mn-ea"/>
              </a:rPr>
              <a:t>Spotlight Interaction for Precision Strikes" Confusion</a:t>
            </a:r>
            <a:endParaRPr lang="en-US" altLang="zh-CN" sz="2800" b="1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085" y="2952750"/>
            <a:ext cx="4381500" cy="28765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70"/>
            <a:ext cx="10969200" cy="705600"/>
          </a:xfrm>
        </p:spPr>
        <p:txBody>
          <a:bodyPr>
            <a:normAutofit fontScale="90000"/>
          </a:bodyPr>
          <a:p>
            <a:r>
              <a:rPr lang="en-US" altLang="zh-CN" sz="6600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  <a:sym typeface="+mn-ea"/>
              </a:rPr>
              <a:t>Logical Guidance</a:t>
            </a:r>
            <a:r>
              <a:rPr lang="en-US" altLang="zh-CN">
                <a:sym typeface="+mn-ea"/>
              </a:rPr>
              <a:t>: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18110" y="1052195"/>
            <a:ext cx="11306810" cy="5081270"/>
          </a:xfrm>
        </p:spPr>
        <p:txBody>
          <a:bodyPr>
            <a:noAutofit/>
          </a:bodyPr>
          <a:p>
            <a:pPr marL="457200" lvl="1" indent="457200">
              <a:buNone/>
            </a:pPr>
            <a:r>
              <a:rPr lang="en-US" altLang="zh-CN" sz="2000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Order Assurance</a:t>
            </a:r>
            <a:endParaRPr lang="en-US" altLang="zh-CN" sz="2000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r>
              <a:rPr lang="en-US" altLang="zh-CN" sz="1600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Strictly follow the operational logic. If you need to click the menu before saving, the guide pointer will never skip steps.</a:t>
            </a:r>
            <a:endParaRPr lang="en-US" altLang="zh-CN" sz="1600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endParaRPr lang="en-US" altLang="zh-CN" sz="2000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457200" lvl="1" indent="457200">
              <a:buNone/>
            </a:pPr>
            <a:r>
              <a:rPr lang="en-US" altLang="zh-CN" sz="1775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Real-Time Observation</a:t>
            </a:r>
            <a:endParaRPr lang="en-US" altLang="zh-CN" sz="1775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 algn="l">
              <a:buNone/>
            </a:pPr>
            <a:r>
              <a:rPr lang="en-US" altLang="zh-CN" sz="1600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The plugin observes the user's actual clicks. Only when the first step is successful will the spotlight on the second step be activated.</a:t>
            </a:r>
            <a:endParaRPr lang="en-US" altLang="zh-CN" sz="1600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endParaRPr lang="en-US" altLang="zh-CN" sz="2000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457200" lvl="1" indent="457200">
              <a:buNone/>
            </a:pPr>
            <a:r>
              <a:rPr lang="en-US" altLang="zh-CN" sz="2000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Error Tolerance</a:t>
            </a:r>
            <a:endParaRPr lang="en-US" altLang="zh-CN" sz="2000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>
              <a:buNone/>
            </a:pPr>
            <a:r>
              <a:rPr lang="en-US" altLang="zh-CN" sz="1600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If the user makes a wrong choice, the system will gently pull them back, replacing cold error messages with sincere retention prompts.</a:t>
            </a:r>
            <a:endParaRPr lang="en-US" altLang="zh-CN" sz="1600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" y="2705100"/>
            <a:ext cx="630555" cy="5988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40" y="4318000"/>
            <a:ext cx="742950" cy="6858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745" y="956310"/>
            <a:ext cx="618490" cy="54991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  <a:sym typeface="+mn-ea"/>
              </a:rPr>
              <a:t>Business Value: Saving SaaS Profits</a:t>
            </a: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92150" y="1503045"/>
            <a:ext cx="3357880" cy="215519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  <a:sym typeface="+mn-ea"/>
              </a:rPr>
              <a:t>Reduce Churn</a:t>
            </a:r>
            <a:endParaRPr lang="en-US" altLang="zh-CN" b="1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  <a:sym typeface="+mn-ea"/>
              </a:rPr>
              <a:t>Recover 15%-25% of potential lost users for SaaS companies by addressing the 'first minute barrier.</a:t>
            </a:r>
            <a:r>
              <a:rPr lang="en-US" altLang="zh-CN">
                <a:latin typeface="Cascadia Code" panose="020B0609020000020004" charset="0"/>
                <a:cs typeface="Cascadia Code" panose="020B0609020000020004" charset="0"/>
                <a:sym typeface="+mn-ea"/>
              </a:rPr>
              <a:t>'</a:t>
            </a:r>
            <a:endParaRPr lang="zh-CN" altLang="en-US"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706110" y="1832610"/>
            <a:ext cx="3357880" cy="215519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Accelerate Activation</a:t>
            </a:r>
            <a:endParaRPr lang="en-US" altLang="zh-CN" b="1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Shorten Time-to-Value, allowing beginners to quickly enter the core experience area.</a:t>
            </a:r>
            <a:endParaRPr lang="en-US" altLang="zh-CN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503170" y="4506595"/>
            <a:ext cx="3357880" cy="215519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  <a:sym typeface="+mn-ea"/>
              </a:rPr>
              <a:t>B2B Purchase Potential</a:t>
            </a:r>
            <a:endParaRPr lang="en-US" altLang="zh-CN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  <a:sym typeface="+mn-ea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  <a:sym typeface="+mn-ea"/>
              </a:rPr>
              <a:t>Not just a plugin, but a set of visual guidance middleware that can be embedded in any complex web application.'</a:t>
            </a:r>
            <a:endParaRPr lang="en-US" altLang="zh-CN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Question Section</a:t>
            </a:r>
            <a:endParaRPr lang="en-US" altLang="zh-CN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 algn="ctr">
              <a:buNone/>
            </a:pPr>
            <a:r>
              <a:rPr lang="en-US" altLang="zh-CN" sz="7200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Thanks</a:t>
            </a:r>
            <a:endParaRPr lang="en-US" altLang="zh-CN" sz="7200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 algn="ctr">
              <a:buNone/>
            </a:pPr>
            <a:r>
              <a:rPr lang="en-US" altLang="zh-CN" sz="7200">
                <a:solidFill>
                  <a:schemeClr val="bg1"/>
                </a:solidFill>
                <a:latin typeface="Cascadia Code" panose="020B0609020000020004" charset="0"/>
                <a:cs typeface="Cascadia Code" panose="020B0609020000020004" charset="0"/>
              </a:rPr>
              <a:t>HachClub &amp; CozyLab</a:t>
            </a:r>
            <a:endParaRPr lang="en-US" altLang="zh-CN" sz="7200">
              <a:solidFill>
                <a:schemeClr val="bg1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3621</Words>
  <Application>WPS 演示</Application>
  <PresentationFormat>宽屏</PresentationFormat>
  <Paragraphs>104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Arial Black</vt:lpstr>
      <vt:lpstr>Cascadia Code SemiBold</vt:lpstr>
      <vt:lpstr>黑体</vt:lpstr>
      <vt:lpstr>Cascadia Code</vt:lpstr>
      <vt:lpstr>Cascadia Mono SemiBold</vt:lpstr>
      <vt:lpstr>Comic Sans MS</vt:lpstr>
      <vt:lpstr>Bahnschrift SemiBold Condensed</vt:lpstr>
      <vt:lpstr>WPS</vt:lpstr>
      <vt:lpstr>PowerPoint 演示文稿</vt:lpstr>
      <vt:lpstr>PowerPoint 演示文稿</vt:lpstr>
      <vt:lpstr>PowerPoint 演示文稿</vt:lpstr>
      <vt:lpstr>PowerPoint 演示文稿</vt:lpstr>
      <vt:lpstr>Values of ‘ChatWithMe’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安琦</cp:lastModifiedBy>
  <cp:revision>163</cp:revision>
  <dcterms:created xsi:type="dcterms:W3CDTF">2019-06-19T02:08:00Z</dcterms:created>
  <dcterms:modified xsi:type="dcterms:W3CDTF">2026-06-01T05:08:21Z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628C0ED4D9304735BD17F015DBE360CF_13</vt:lpwstr>
  </property>
</Properties>
</file>